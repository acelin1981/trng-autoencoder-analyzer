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1" r:id="rId5"/>
    <p:sldId id="262" r:id="rId6"/>
    <p:sldId id="267" r:id="rId7"/>
    <p:sldId id="269" r:id="rId8"/>
    <p:sldId id="270" r:id="rId9"/>
    <p:sldId id="260" r:id="rId10"/>
    <p:sldId id="266" r:id="rId11"/>
    <p:sldId id="265" r:id="rId12"/>
    <p:sldId id="264" r:id="rId13"/>
    <p:sldId id="271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TRNG Anomaly Detection: Autoencoder 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Autoencoder CNN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72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Input: [8, 64, 64] bit-planes</a:t>
            </a:r>
          </a:p>
          <a:p>
            <a:pPr>
              <a:defRPr sz="2000" b="1"/>
            </a:pPr>
            <a:r>
              <a:rPr dirty="0"/>
              <a:t>Encoder:</a:t>
            </a:r>
          </a:p>
          <a:p>
            <a:pPr>
              <a:defRPr sz="1800"/>
            </a:pPr>
            <a:r>
              <a:rPr dirty="0"/>
              <a:t>- Conv(8→32, 3x3) + </a:t>
            </a:r>
            <a:r>
              <a:rPr dirty="0" err="1"/>
              <a:t>ReLU</a:t>
            </a:r>
            <a:br>
              <a:rPr dirty="0"/>
            </a:br>
            <a:r>
              <a:rPr dirty="0"/>
              <a:t>- Conv(32→32, 3x3) + </a:t>
            </a:r>
            <a:r>
              <a:rPr dirty="0" err="1"/>
              <a:t>ReLU</a:t>
            </a:r>
            <a:br>
              <a:rPr dirty="0"/>
            </a:br>
            <a:r>
              <a:rPr dirty="0"/>
              <a:t>- </a:t>
            </a:r>
            <a:r>
              <a:rPr dirty="0" err="1"/>
              <a:t>MaxPool</a:t>
            </a:r>
            <a:r>
              <a:rPr dirty="0"/>
              <a:t>(2) → [32, 32, 32]</a:t>
            </a:r>
            <a:br>
              <a:rPr dirty="0"/>
            </a:br>
            <a:endParaRPr dirty="0"/>
          </a:p>
          <a:p>
            <a:pPr>
              <a:defRPr sz="1800"/>
            </a:pPr>
            <a:r>
              <a:rPr dirty="0"/>
              <a:t>- Conv(32→64, 3x3) + </a:t>
            </a:r>
            <a:r>
              <a:rPr dirty="0" err="1"/>
              <a:t>ReLU</a:t>
            </a:r>
            <a:br>
              <a:rPr dirty="0"/>
            </a:br>
            <a:r>
              <a:rPr dirty="0"/>
              <a:t>- Conv(64→64, 3x3) + </a:t>
            </a:r>
            <a:r>
              <a:rPr dirty="0" err="1"/>
              <a:t>ReLU</a:t>
            </a:r>
            <a:br>
              <a:rPr dirty="0"/>
            </a:br>
            <a:r>
              <a:rPr dirty="0"/>
              <a:t>- </a:t>
            </a:r>
            <a:r>
              <a:rPr dirty="0" err="1"/>
              <a:t>MaxPool</a:t>
            </a:r>
            <a:r>
              <a:rPr dirty="0"/>
              <a:t>(2) → [64, 16, 16]</a:t>
            </a:r>
            <a:br>
              <a:rPr dirty="0"/>
            </a:br>
            <a:endParaRPr dirty="0"/>
          </a:p>
          <a:p>
            <a:pPr>
              <a:defRPr sz="1800"/>
            </a:pPr>
            <a:r>
              <a:rPr dirty="0"/>
              <a:t>- Conv(64→128, 3x3) + </a:t>
            </a:r>
            <a:r>
              <a:rPr dirty="0" err="1"/>
              <a:t>ReLU</a:t>
            </a:r>
            <a:r>
              <a:rPr dirty="0"/>
              <a:t> → Bottleneck [128, 16, 16]</a:t>
            </a:r>
          </a:p>
          <a:p>
            <a:pPr>
              <a:defRPr sz="2000" b="1"/>
            </a:pPr>
            <a:r>
              <a:rPr dirty="0"/>
              <a:t>Decoder:</a:t>
            </a:r>
          </a:p>
          <a:p>
            <a:pPr>
              <a:defRPr sz="1800"/>
            </a:pPr>
            <a:r>
              <a:rPr dirty="0"/>
              <a:t>- </a:t>
            </a:r>
            <a:r>
              <a:rPr dirty="0" err="1"/>
              <a:t>ConvTranspose</a:t>
            </a:r>
            <a:r>
              <a:rPr dirty="0"/>
              <a:t>(128→64, 2x2, stride=2) → [64, 32, 32]</a:t>
            </a:r>
            <a:br>
              <a:rPr dirty="0"/>
            </a:br>
            <a:r>
              <a:rPr dirty="0"/>
              <a:t>- Conv(64→64, 3x3) + </a:t>
            </a:r>
            <a:r>
              <a:rPr dirty="0" err="1"/>
              <a:t>ReLU</a:t>
            </a:r>
            <a:br>
              <a:rPr dirty="0"/>
            </a:br>
            <a:endParaRPr dirty="0"/>
          </a:p>
          <a:p>
            <a:pPr>
              <a:defRPr sz="1800"/>
            </a:pPr>
            <a:r>
              <a:rPr dirty="0"/>
              <a:t>- </a:t>
            </a:r>
            <a:r>
              <a:rPr dirty="0" err="1"/>
              <a:t>ConvTranspose</a:t>
            </a:r>
            <a:r>
              <a:rPr dirty="0"/>
              <a:t>(64→32, 2x2, stride=2) → [32, 64, 64]</a:t>
            </a:r>
            <a:br>
              <a:rPr dirty="0"/>
            </a:br>
            <a:r>
              <a:rPr dirty="0"/>
              <a:t>- Conv(32→32, 3x3) + </a:t>
            </a:r>
            <a:r>
              <a:rPr dirty="0" err="1"/>
              <a:t>ReLU</a:t>
            </a:r>
            <a:br>
              <a:rPr dirty="0"/>
            </a:br>
            <a:endParaRPr dirty="0"/>
          </a:p>
          <a:p>
            <a:pPr>
              <a:defRPr sz="1800"/>
            </a:pPr>
            <a:r>
              <a:rPr dirty="0"/>
              <a:t>- Conv(32→8, 3x3) + Sigmoid → Output [8, 64, 64]</a:t>
            </a:r>
          </a:p>
          <a:p>
            <a:pPr>
              <a:defRPr sz="1800"/>
            </a:pPr>
            <a:r>
              <a:rPr dirty="0"/>
              <a:t>Loss: Mean Squared Error (MSE). Anomaly score = per-frame MSE.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93197F-B2D6-A9DC-5402-BB946E4B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Diagram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1673C02-B178-89BD-8B7D-37E973B6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474"/>
            <a:ext cx="9144000" cy="229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Encoder (Feature Compression)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Input [8,64,64]: 8 bit-planes (LSB..MSB) from bytes.</a:t>
            </a:r>
          </a:p>
          <a:p>
            <a:pPr>
              <a:defRPr sz="1800"/>
            </a:pPr>
            <a:r>
              <a:t>Conv(8→32, 3×3) + ReLU → Local feature extraction.</a:t>
            </a:r>
          </a:p>
          <a:p>
            <a:pPr>
              <a:defRPr sz="1800"/>
            </a:pPr>
            <a:r>
              <a:t>Conv(32→32, 3×3) + ReLU → Stacked features, larger receptive field.</a:t>
            </a:r>
          </a:p>
          <a:p>
            <a:pPr>
              <a:defRPr sz="1800"/>
            </a:pPr>
            <a:r>
              <a:t>MaxPool(2) → Downsample (64→32).</a:t>
            </a:r>
          </a:p>
          <a:p>
            <a:pPr>
              <a:defRPr sz="1800"/>
            </a:pPr>
            <a:r>
              <a:t>Conv(32→64, 3×3) + ReLU → Higher-level features.</a:t>
            </a:r>
          </a:p>
          <a:p>
            <a:pPr>
              <a:defRPr sz="1800"/>
            </a:pPr>
            <a:r>
              <a:t>Conv(64→64, 3×3) + ReLU → Stable representation.</a:t>
            </a:r>
          </a:p>
          <a:p>
            <a:pPr>
              <a:defRPr sz="1800"/>
            </a:pPr>
            <a:r>
              <a:t>MaxPool(2) → Downsample (32→16).</a:t>
            </a:r>
          </a:p>
          <a:p>
            <a:pPr>
              <a:defRPr sz="1800"/>
            </a:pPr>
            <a:r>
              <a:t>Conv(64→128, 3×3) + ReLU → Bottleneck latent 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Decoder (Reconstruction) +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ConvTranspose(128→64, 2×2, stride=2) → Upsample (16→32).</a:t>
            </a:r>
          </a:p>
          <a:p>
            <a:pPr>
              <a:defRPr sz="1800"/>
            </a:pPr>
            <a:r>
              <a:t>Conv(64→64, 3×3) + ReLU → Refine upsampled features.</a:t>
            </a:r>
          </a:p>
          <a:p>
            <a:pPr>
              <a:defRPr sz="1800"/>
            </a:pPr>
            <a:r>
              <a:t>ConvTranspose(64→32, 2×2, stride=2) → Upsample (32→64).</a:t>
            </a:r>
          </a:p>
          <a:p>
            <a:pPr>
              <a:defRPr sz="1800"/>
            </a:pPr>
            <a:r>
              <a:t>Conv(32→32, 3×3) + ReLU → Clean and sharpen features.</a:t>
            </a:r>
          </a:p>
          <a:p>
            <a:pPr>
              <a:defRPr sz="1800"/>
            </a:pPr>
            <a:r>
              <a:t>Conv(32→8, 3×3) + Sigmoid → Reconstruct 8 bit-planes.</a:t>
            </a:r>
          </a:p>
          <a:p>
            <a:pPr>
              <a:defRPr sz="1800"/>
            </a:pPr>
            <a:r>
              <a:t>Loss: MSE → Minimize difference between input and reconstruction.</a:t>
            </a:r>
          </a:p>
          <a:p>
            <a:pPr>
              <a:defRPr sz="1800"/>
            </a:pPr>
            <a:r>
              <a:t>Anomaly score = per-frame MSE (higher = more suspicious).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38" y="-88033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SP800-90B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5474" y="527410"/>
            <a:ext cx="8191923" cy="65556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- </a:t>
            </a:r>
            <a:r>
              <a:rPr lang="en-US" altLang="zh-TW" b="1" dirty="0"/>
              <a:t>SP 800-90B (NIST Entropy Source Standard)</a:t>
            </a:r>
          </a:p>
          <a:p>
            <a:endParaRPr lang="en-US" altLang="zh-TW" b="1" dirty="0"/>
          </a:p>
          <a:p>
            <a:pPr>
              <a:buFont typeface="+mj-lt"/>
              <a:buAutoNum type="arabicPeriod"/>
            </a:pPr>
            <a:r>
              <a:rPr lang="en-US" altLang="zh-TW" b="1" dirty="0"/>
              <a:t>Official Estimators (MCV, Collision, Markov, t-Tuple)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These are </a:t>
            </a:r>
            <a:r>
              <a:rPr lang="en-US" altLang="zh-TW" sz="1600" b="1" dirty="0"/>
              <a:t>mathematical tests</a:t>
            </a:r>
            <a:r>
              <a:rPr lang="en-US" altLang="zh-TW" sz="1600" dirty="0"/>
              <a:t> defined by NIST.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They estimate the </a:t>
            </a:r>
            <a:r>
              <a:rPr lang="en-US" altLang="zh-TW" sz="1600" b="1" dirty="0"/>
              <a:t>minimum entropy</a:t>
            </a:r>
            <a:r>
              <a:rPr lang="en-US" altLang="zh-TW" sz="1600" dirty="0"/>
              <a:t> (worst-case randomness) of the TRNG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Example: if you get </a:t>
            </a:r>
            <a:r>
              <a:rPr lang="en-US" altLang="zh-TW" sz="1600" b="1" dirty="0"/>
              <a:t>0.975 bits/bit</a:t>
            </a:r>
            <a:r>
              <a:rPr lang="en-US" altLang="zh-TW" sz="1600" dirty="0"/>
              <a:t>, it means on average each bit carries ~97.5% </a:t>
            </a:r>
          </a:p>
          <a:p>
            <a:pPr lvl="1"/>
            <a:r>
              <a:rPr lang="en-US" altLang="zh-TW" sz="1600" dirty="0"/>
              <a:t>                     randomness.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Health Tests (RCT, APT)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b="1" dirty="0"/>
              <a:t>Repetition Count Test (RCT)</a:t>
            </a:r>
            <a:r>
              <a:rPr lang="en-US" altLang="zh-TW" sz="1600" dirty="0"/>
              <a:t> → catches </a:t>
            </a:r>
            <a:r>
              <a:rPr lang="en-US" altLang="zh-TW" sz="1600" i="1" dirty="0"/>
              <a:t>stuck bits</a:t>
            </a:r>
            <a:r>
              <a:rPr lang="en-US" altLang="zh-TW" sz="1600" dirty="0"/>
              <a:t> (too many identical symbols in a row).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b="1" dirty="0"/>
              <a:t>Adaptive Proportion Test (APT)</a:t>
            </a:r>
            <a:r>
              <a:rPr lang="en-US" altLang="zh-TW" sz="1600" dirty="0"/>
              <a:t> → checks if one symbol occurs </a:t>
            </a:r>
            <a:r>
              <a:rPr lang="en-US" altLang="zh-TW" sz="1600" i="1" dirty="0"/>
              <a:t>too frequently</a:t>
            </a:r>
            <a:r>
              <a:rPr lang="en-US" altLang="zh-TW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These are </a:t>
            </a:r>
            <a:r>
              <a:rPr lang="en-US" altLang="zh-TW" sz="1600" b="1" dirty="0"/>
              <a:t>lightweight, online tests</a:t>
            </a:r>
            <a:r>
              <a:rPr lang="en-US" altLang="zh-TW" sz="1600" dirty="0"/>
              <a:t> that can run continuously in hardware</a:t>
            </a:r>
            <a:r>
              <a:rPr lang="en-US" altLang="zh-TW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Gives rigorous min-entropy estimate (bits/bit)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The standard converts randomness quality into a </a:t>
            </a:r>
            <a:r>
              <a:rPr lang="en-US" altLang="zh-TW" sz="1600" b="1" dirty="0"/>
              <a:t>single number</a:t>
            </a:r>
            <a:r>
              <a:rPr lang="en-US" altLang="zh-TW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This number is used to decide how much “true entropy” is inside a TRNG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Very important for cryptographic systems that rely on unpredictability.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Required for certification (FIPS 140-3, Common Criteria)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Without passing SP 800-90B, a TRNG cannot be officially certified for security products.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This is why companies </a:t>
            </a:r>
            <a:r>
              <a:rPr lang="en-US" altLang="zh-TW" sz="1600" b="1" dirty="0"/>
              <a:t>must</a:t>
            </a:r>
            <a:r>
              <a:rPr lang="en-US" altLang="zh-TW" sz="1600" dirty="0"/>
              <a:t> run these tests.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Does not explain the visual failure pattern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Limitation: The output is just </a:t>
            </a:r>
            <a:r>
              <a:rPr lang="en-US" altLang="zh-TW" sz="1600" b="1" dirty="0"/>
              <a:t>numbers and pass/fail results</a:t>
            </a:r>
            <a:r>
              <a:rPr lang="en-US" altLang="zh-TW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It cannot show </a:t>
            </a:r>
            <a:r>
              <a:rPr lang="en-US" altLang="zh-TW" sz="1600" i="1" dirty="0"/>
              <a:t>what went wrong</a:t>
            </a:r>
            <a:r>
              <a:rPr lang="en-US" altLang="zh-TW" sz="1600" dirty="0"/>
              <a:t> (e.g., which bit got stuck, or which pattern repeats).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sz="1600" dirty="0"/>
              <a:t>That’s why </a:t>
            </a:r>
            <a:r>
              <a:rPr lang="en-US" altLang="zh-TW" sz="1600" b="1" dirty="0"/>
              <a:t>visual tools</a:t>
            </a:r>
            <a:r>
              <a:rPr lang="en-US" altLang="zh-TW" sz="1600" dirty="0"/>
              <a:t> (Bit-planes, Heatmaps, Autoencoder residuals) are helpful </a:t>
            </a:r>
          </a:p>
          <a:p>
            <a:pPr lvl="1"/>
            <a:r>
              <a:rPr lang="zh-TW" altLang="en-US" sz="1600" dirty="0"/>
              <a:t>      </a:t>
            </a:r>
            <a:r>
              <a:rPr lang="en-US" altLang="zh-TW" sz="1600" dirty="0"/>
              <a:t>complements.</a:t>
            </a:r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2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Detecting Potential Risks in TRNG Outputs: Visual and AI Approaches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0980" y="1645206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/>
            </a:pP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A43D26-79F4-9DEB-2506-89B2BF168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894DCC-704C-D2E8-0A20-CFA449C8A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" y="1880533"/>
            <a:ext cx="7830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Bit-planes &amp; Heatmaps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come directly from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TRNG sequences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dirty="0">
                <a:latin typeface="Arial" panose="020B0604020202020204" pitchFamily="34" charset="0"/>
              </a:rPr>
              <a:t>                                             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(different visualizations).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Autoencoder Residuals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come from a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CNN model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learns 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dirty="0">
                <a:latin typeface="Arial" panose="020B0604020202020204" pitchFamily="34" charset="0"/>
              </a:rPr>
              <a:t>                                           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“what normal looks like.”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24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Detecting Potential Risks in TRNG Outputs: Visual and AI Approaches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0980" y="1645206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/>
            </a:pP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A43D26-79F4-9DEB-2506-89B2BF168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688B69-D0F5-2E20-9EED-AC37E33AE272}"/>
              </a:ext>
            </a:extLst>
          </p:cNvPr>
          <p:cNvSpPr txBox="1"/>
          <p:nvPr/>
        </p:nvSpPr>
        <p:spPr>
          <a:xfrm>
            <a:off x="313344" y="1798494"/>
            <a:ext cx="90430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Why Not Stop at Bit-planes &amp; Heatmaps?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Bit-planes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Very intuitive (easy to spot stuck bits).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❌ Only catches </a:t>
            </a:r>
            <a:r>
              <a:rPr lang="en-US" altLang="zh-TW" i="1" dirty="0"/>
              <a:t>big obvious problems</a:t>
            </a:r>
            <a:r>
              <a:rPr lang="en-US" altLang="zh-TW" dirty="0"/>
              <a:t> (e.g., all 0’s, all 1’s).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❌ Cannot quantify subtle bias.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Heatmaps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More sensitive (shows repetition / diagonal structure).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❌ Still requires </a:t>
            </a:r>
            <a:r>
              <a:rPr lang="en-US" altLang="zh-TW" b="1" dirty="0"/>
              <a:t>human inspection</a:t>
            </a:r>
            <a:r>
              <a:rPr lang="en-US" altLang="zh-TW" dirty="0"/>
              <a:t> — subjective, not automated.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❌ Hard to set a </a:t>
            </a:r>
            <a:r>
              <a:rPr lang="en-US" altLang="zh-TW" i="1" dirty="0"/>
              <a:t>pass/fail threshold</a:t>
            </a:r>
            <a:r>
              <a:rPr lang="en-US" altLang="zh-TW" dirty="0"/>
              <a:t> for production monitoring.</a:t>
            </a:r>
          </a:p>
          <a:p>
            <a:pPr>
              <a:buFont typeface="+mj-lt"/>
              <a:buAutoNum type="arabicPeriod"/>
            </a:pPr>
            <a:r>
              <a:rPr lang="en-US" altLang="zh-TW" b="1" dirty="0"/>
              <a:t>Autoencoder Residuals (AI)</a:t>
            </a:r>
            <a:endParaRPr lang="en-US" altLang="zh-TW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Learns from </a:t>
            </a:r>
            <a:r>
              <a:rPr lang="en-US" altLang="zh-TW" b="1" dirty="0"/>
              <a:t>healthy data</a:t>
            </a:r>
            <a:r>
              <a:rPr lang="en-US" altLang="zh-TW" dirty="0"/>
              <a:t> and builds a baseline automatically.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Produces a </a:t>
            </a:r>
            <a:r>
              <a:rPr lang="en-US" altLang="zh-TW" b="1" dirty="0"/>
              <a:t>numeric anomaly score</a:t>
            </a:r>
            <a:r>
              <a:rPr lang="en-US" altLang="zh-TW" dirty="0"/>
              <a:t> (MSE), so we can automate pass/fail.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Can detect </a:t>
            </a:r>
            <a:r>
              <a:rPr lang="en-US" altLang="zh-TW" b="1" dirty="0"/>
              <a:t>subtle deviations</a:t>
            </a:r>
            <a:r>
              <a:rPr lang="en-US" altLang="zh-TW" dirty="0"/>
              <a:t> invisible to the eye.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TW" dirty="0"/>
              <a:t>✅ Scales better for </a:t>
            </a:r>
            <a:r>
              <a:rPr lang="en-US" altLang="zh-TW" b="1" dirty="0"/>
              <a:t>continuous monitoring</a:t>
            </a:r>
            <a:r>
              <a:rPr lang="en-US" altLang="zh-TW" dirty="0"/>
              <a:t> (online TRNG health tests).</a:t>
            </a:r>
          </a:p>
        </p:txBody>
      </p:sp>
    </p:spTree>
    <p:extLst>
      <p:ext uri="{BB962C8B-B14F-4D97-AF65-F5344CB8AC3E}">
        <p14:creationId xmlns:p14="http://schemas.microsoft.com/office/powerpoint/2010/main" val="129870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Detecting Potential Risks in TRNG Outputs: Visual and AI Approaches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88620" y="1211223"/>
            <a:ext cx="8655255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altLang="zh-TW" b="1" dirty="0"/>
              <a:t>1. Bit-planes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Method</a:t>
            </a:r>
            <a:r>
              <a:rPr lang="en-US" altLang="zh-TW" dirty="0"/>
              <a:t>: Expand TRNG byte outputs into 8 layers, each representing bit[0] to bit[7].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Interpretation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Random &amp; Healthy</a:t>
            </a:r>
            <a:r>
              <a:rPr lang="en-US" altLang="zh-TW" dirty="0"/>
              <a:t> → Black/white pixels are mixed randomly, like visual noise.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Biased / Stuck</a:t>
            </a:r>
            <a:r>
              <a:rPr lang="en-US" altLang="zh-TW" dirty="0"/>
              <a:t> → Almost fully bright or dark, indicating a stuck bit or strong bias.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Meaning</a:t>
            </a:r>
            <a:r>
              <a:rPr lang="en-US" altLang="zh-TW" dirty="0"/>
              <a:t>: A </a:t>
            </a:r>
            <a:r>
              <a:rPr lang="en-US" altLang="zh-TW" b="1" dirty="0"/>
              <a:t>quick visual sanity check</a:t>
            </a:r>
            <a:r>
              <a:rPr lang="en-US" altLang="zh-TW" dirty="0"/>
              <a:t>, useful to detect catastrophic failures (stuck-at bits).</a:t>
            </a:r>
          </a:p>
          <a:p>
            <a:pPr>
              <a:defRPr sz="1800"/>
            </a:pPr>
            <a:endParaRPr lang="en-US" dirty="0"/>
          </a:p>
          <a:p>
            <a:r>
              <a:rPr lang="en-US" altLang="zh-TW" b="1" dirty="0"/>
              <a:t>2. Heatmaps (n-gram / co-occurrence)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Method</a:t>
            </a:r>
            <a:r>
              <a:rPr lang="en-US" altLang="zh-TW" dirty="0"/>
              <a:t>: Calculate the frequency and correlation of bit/byte occurrences, plotted </a:t>
            </a:r>
          </a:p>
          <a:p>
            <a:r>
              <a:rPr lang="en-US" altLang="zh-TW" dirty="0"/>
              <a:t>                   as intensity maps.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Interpretation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Random &amp; Healthy</a:t>
            </a:r>
            <a:r>
              <a:rPr lang="en-US" altLang="zh-TW" dirty="0"/>
              <a:t> → Colors are evenly distributed, no clear 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Biased / Repetitive</a:t>
            </a:r>
            <a:r>
              <a:rPr lang="en-US" altLang="zh-TW" dirty="0"/>
              <a:t> → Bright diagonal or clusters, meaning repeated patterns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                                        or probability skew.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Meaning</a:t>
            </a:r>
            <a:r>
              <a:rPr lang="en-US" altLang="zh-TW" dirty="0"/>
              <a:t>: More sensitive than bit-planes, </a:t>
            </a:r>
            <a:r>
              <a:rPr lang="en-US" altLang="zh-TW" b="1" dirty="0"/>
              <a:t>reveals hidden patterns</a:t>
            </a:r>
            <a:r>
              <a:rPr lang="en-US" altLang="zh-TW" dirty="0"/>
              <a:t> or subtle bias.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Detecting Potential Risks in TRNG Outputs: Visual and AI Approaches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0980" y="1645206"/>
            <a:ext cx="9052478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altLang="zh-TW" b="1" dirty="0"/>
              <a:t>3. Autoencoder Residuals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Method</a:t>
            </a:r>
            <a:r>
              <a:rPr lang="en-US" altLang="zh-TW" dirty="0"/>
              <a:t>: Train a CNN autoencoder on “healthy” TRNG outputs, then measure reconstruction </a:t>
            </a:r>
          </a:p>
          <a:p>
            <a:r>
              <a:rPr lang="en-US" altLang="zh-TW" dirty="0"/>
              <a:t>                  error (MSE).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Interpretation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Low residual (dark)</a:t>
            </a:r>
            <a:r>
              <a:rPr lang="en-US" altLang="zh-TW" dirty="0"/>
              <a:t> → Data matches what the model learned → likely normal.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High residual (bright regions)</a:t>
            </a:r>
            <a:r>
              <a:rPr lang="en-US" altLang="zh-TW" dirty="0"/>
              <a:t> → Reconstruction fails → anomaly or deviation.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Meaning</a:t>
            </a:r>
            <a:r>
              <a:rPr lang="en-US" altLang="zh-TW" dirty="0"/>
              <a:t>: Provides an </a:t>
            </a:r>
            <a:r>
              <a:rPr lang="en-US" altLang="zh-TW" b="1" dirty="0"/>
              <a:t>automated anomaly detection</a:t>
            </a:r>
            <a:r>
              <a:rPr lang="en-US" altLang="zh-TW" dirty="0"/>
              <a:t> approach, quantifying where and when </a:t>
            </a:r>
          </a:p>
          <a:p>
            <a:r>
              <a:rPr lang="en-US" altLang="zh-TW" dirty="0"/>
              <a:t>                    entropy quality drops.</a:t>
            </a:r>
          </a:p>
          <a:p>
            <a:pPr>
              <a:defRPr sz="1800"/>
            </a:pPr>
            <a:endParaRPr lang="en-US" dirty="0"/>
          </a:p>
          <a:p>
            <a:r>
              <a:rPr lang="en-US" altLang="zh-TW" b="1" dirty="0"/>
              <a:t>Comparison / Takeaway</a:t>
            </a:r>
            <a:r>
              <a:rPr lang="en-US" altLang="zh-TW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Bit-planes</a:t>
            </a:r>
            <a:r>
              <a:rPr lang="en-US" altLang="zh-TW" dirty="0"/>
              <a:t> → Human-eye check for stuck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Heatmaps</a:t>
            </a:r>
            <a:r>
              <a:rPr lang="en-US" altLang="zh-TW" dirty="0"/>
              <a:t> → Pattern detection &amp; probability skew.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AE Residuals</a:t>
            </a:r>
            <a:r>
              <a:rPr lang="en-US" altLang="zh-TW" dirty="0"/>
              <a:t> → Automated anomaly scoring &amp; localization</a:t>
            </a:r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87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Read Bright vs. Dark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Bit-planes: Bright=1, Dark=0. Random mix = healthy. Uniform brightness = bias/stuck.</a:t>
            </a:r>
          </a:p>
          <a:p>
            <a:pPr>
              <a:defRPr sz="1800"/>
            </a:pPr>
            <a:r>
              <a:rPr dirty="0"/>
              <a:t>Heatmaps: Brighter cells = higher probability. Diagonal dominance = repetition.</a:t>
            </a:r>
          </a:p>
          <a:p>
            <a:pPr>
              <a:defRPr sz="1800"/>
            </a:pPr>
            <a:r>
              <a:rPr dirty="0"/>
              <a:t>AE residuals: Bright = reconstruction failure → potential anomaly.</a:t>
            </a:r>
          </a:p>
        </p:txBody>
      </p:sp>
    </p:spTree>
    <p:extLst>
      <p:ext uri="{BB962C8B-B14F-4D97-AF65-F5344CB8AC3E}">
        <p14:creationId xmlns:p14="http://schemas.microsoft.com/office/powerpoint/2010/main" val="4136379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0DA34-F460-A4B8-224C-7EBBC603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Diagram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E30C63-D4EB-A1E7-B1B4-A5EE10FD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5379"/>
            <a:ext cx="9144000" cy="30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8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0DA34-F460-A4B8-224C-7EBBC603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Bit-planes</a:t>
            </a:r>
            <a:endParaRPr lang="zh-TW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E83072-6789-2AC8-4382-FC974A4AC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549212"/>
            <a:ext cx="8570616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TW" b="1" dirty="0">
                <a:latin typeface="Arial" panose="020B0604020202020204" pitchFamily="34" charset="0"/>
              </a:rPr>
              <a:t>Definition</a:t>
            </a:r>
            <a:r>
              <a:rPr lang="en-US" altLang="zh-TW" dirty="0">
                <a:latin typeface="Arial" panose="020B0604020202020204" pitchFamily="34" charset="0"/>
              </a:rPr>
              <a:t>: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TRNG byte outputs into 8 binary images (bit[0] to bit[7]).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image shows the distribution of a single bit position: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 =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TW" altLang="zh-TW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 =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&amp; healthy TRNG → appears as random black/white noise.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Biased or stuck TRNG → one plane is uniformly bright or dark, showing bias 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dirty="0">
                <a:latin typeface="Arial" panose="020B0604020202020204" pitchFamily="34" charset="0"/>
              </a:rPr>
              <a:t>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failure.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Quick visual sanity check for stuck bits or obvious bias.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55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0DA34-F460-A4B8-224C-7EBBC603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Diagram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FDED8B-F767-F8D4-627E-328A7A2FE074}"/>
              </a:ext>
            </a:extLst>
          </p:cNvPr>
          <p:cNvSpPr txBox="1"/>
          <p:nvPr/>
        </p:nvSpPr>
        <p:spPr>
          <a:xfrm>
            <a:off x="457200" y="1720840"/>
            <a:ext cx="8610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Heatmaps (n-gram / co-occurrence matrix)</a:t>
            </a:r>
          </a:p>
          <a:p>
            <a:endParaRPr lang="en-US" altLang="zh-TW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Definition</a:t>
            </a:r>
            <a:r>
              <a:rPr lang="en-US" altLang="zh-TW" dirty="0"/>
              <a:t>: Counts how often symbol </a:t>
            </a:r>
            <a:r>
              <a:rPr lang="en-US" altLang="zh-TW" i="1" dirty="0" err="1"/>
              <a:t>i</a:t>
            </a:r>
            <a:r>
              <a:rPr lang="en-US" altLang="zh-TW" dirty="0"/>
              <a:t> is followed by symbol </a:t>
            </a:r>
            <a:r>
              <a:rPr lang="en-US" altLang="zh-TW" i="1" dirty="0"/>
              <a:t>j</a:t>
            </a:r>
            <a:r>
              <a:rPr lang="en-US" altLang="zh-TW" dirty="0"/>
              <a:t> (pairwise correlation).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For bits → 2×2 matrix.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For bytes → 256×256 matrix.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Visualization</a:t>
            </a:r>
            <a:r>
              <a:rPr lang="en-US" altLang="zh-TW" dirty="0"/>
              <a:t>: Plotted as a heatmap (thermal diagram):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Brighter cells = higher frequency (more common transitions).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Darker cells = lower frequency (rare transitions).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Meaning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Random &amp; healthy TRNG → evenly spread heatmap, no visible 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Biased TRNG → bright diagonal (repetition) or bright blocks (biased patterns).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Use case</a:t>
            </a:r>
            <a:r>
              <a:rPr lang="en-US" altLang="zh-TW" dirty="0"/>
              <a:t>: Reveals hidden patterns and correlations beyond what bit-planes show.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EB0B9E-33B1-BF69-5B18-AB9028A1C467}"/>
              </a:ext>
            </a:extLst>
          </p:cNvPr>
          <p:cNvSpPr txBox="1"/>
          <p:nvPr/>
        </p:nvSpPr>
        <p:spPr>
          <a:xfrm>
            <a:off x="457199" y="5383033"/>
            <a:ext cx="62007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Together: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Bit-planes</a:t>
            </a:r>
            <a:r>
              <a:rPr lang="en-US" altLang="zh-TW" dirty="0"/>
              <a:t> → shows </a:t>
            </a:r>
            <a:r>
              <a:rPr lang="en-US" altLang="zh-TW" i="1" dirty="0"/>
              <a:t>individual bit health</a:t>
            </a:r>
            <a:r>
              <a:rPr lang="en-US" altLang="zh-TW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Heatmaps</a:t>
            </a:r>
            <a:r>
              <a:rPr lang="en-US" altLang="zh-TW" dirty="0"/>
              <a:t> → shows </a:t>
            </a:r>
            <a:r>
              <a:rPr lang="en-US" altLang="zh-TW" i="1" dirty="0"/>
              <a:t>sequence correlation and bias</a:t>
            </a:r>
            <a:r>
              <a:rPr lang="en-US" altLang="zh-TW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4474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1459</Words>
  <Application>Microsoft Office PowerPoint</Application>
  <PresentationFormat>如螢幕大小 (4:3)</PresentationFormat>
  <Paragraphs>144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TRNG Anomaly Detection: Autoencoder CNN</vt:lpstr>
      <vt:lpstr>Autoencoder CNN Architecture</vt:lpstr>
      <vt:lpstr>Network Diagram</vt:lpstr>
      <vt:lpstr>Encoder (Feature Compression)</vt:lpstr>
      <vt:lpstr>Decoder (Reconstruction) + Loss</vt:lpstr>
      <vt:lpstr>SP800-90B</vt:lpstr>
      <vt:lpstr>Detecting Potential Risks in TRNG Outputs: Visual and AI Approaches</vt:lpstr>
      <vt:lpstr>Detecting Potential Risks in TRNG Outputs: Visual and AI Approaches</vt:lpstr>
      <vt:lpstr>Detecting Potential Risks in TRNG Outputs: Visual and AI Approaches</vt:lpstr>
      <vt:lpstr>Detecting Potential Risks in TRNG Outputs: Visual and AI Approaches</vt:lpstr>
      <vt:lpstr>How to Read Bright vs. Dark</vt:lpstr>
      <vt:lpstr>Example Diagram</vt:lpstr>
      <vt:lpstr>Bit-planes</vt:lpstr>
      <vt:lpstr>Example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Ace Lin</cp:lastModifiedBy>
  <cp:revision>16</cp:revision>
  <dcterms:created xsi:type="dcterms:W3CDTF">2013-01-27T09:14:16Z</dcterms:created>
  <dcterms:modified xsi:type="dcterms:W3CDTF">2025-09-20T11:10:35Z</dcterms:modified>
  <cp:category/>
</cp:coreProperties>
</file>